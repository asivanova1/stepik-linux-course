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132250427@rudn.ru" TargetMode="Externa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5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6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8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0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1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2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9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Курс «Введение в Linux»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Раздел 3 — vim, bash-скрипты, sed, gnuplot</a:t>
            </a:r>
            <a:br/>
            <a:br/>
            <a:r>
              <a:rPr/>
              <a:t>Иванова Анастасия Сергеевна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Докладчик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Иванова Анастасия Сергеевна</a:t>
            </a:r>
          </a:p>
          <a:p>
            <a:pPr lvl="0"/>
            <a:r>
              <a:rPr/>
              <a:t>1 курс группа НКАбд-07-25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1132250427@rudn.ru</a:t>
            </a:r>
          </a:p>
        </p:txBody>
      </p:sp>
      <p:pic>
        <p:nvPicPr>
          <p:cNvPr descr="./image/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1. Как выйти из vim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: затем q затем Enter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В vim выход через командный режим: Esc, потом :, потом q, потом Enter.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10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1: Вопрос 1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2. Перемещение по словам в vim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В этой строке 5 “больших слов” (WORD) - В этой строке 9 “слов” (word) - Нажимая только на w, нельзя переместить курсор на “.” - Чтобы попасть в конец строки, нужно меньше нажатий на W, чем на w - Нажимая только на W, нельзя переместить курсор на “.”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w — по словам (буквы, цифры, _). W — по большим словам (разделитель — только пробел).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66700"/>
            <a:ext cx="5105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2: Вопрос 2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3. Редактирование строки в vim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Вопрос:</a:t>
            </a:r>
            <a:r>
              <a:rPr/>
              <a:t> Как превратить “one two three four five” в “three four four four five”?</a:t>
            </a:r>
          </a:p>
          <a:p>
            <a:pPr lvl="0" indent="0" marL="0">
              <a:buNone/>
            </a:pPr>
            <a:r>
              <a:rPr b="1"/>
              <a:t>Ответ:</a:t>
            </a:r>
            <a:r>
              <a:rPr/>
              <a:t> d2wwywPp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d2w — удалить два слова, w — вперёд, yw — скопировать слово, P — вставить перед курсором, p — вставить после.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84200"/>
            <a:ext cx="51054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3: Вопрос 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4. Замена Windows на Linux в vim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:%s/Windows/Linux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% — все строки, s — замена, без g — только первое вхождение в строке.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90600"/>
            <a:ext cx="51054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4: Вопрос 4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5. Режим выделения в vim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В режиме выделения можно использовать d и y - Режим выделения открывается по нажатию “v” - В режиме выделения можно использовать w, e, $ и др. - Внизу редактора горит – VISUAL – - Выйти из режима выделения можно, нажав Esc два раза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Я открыла vimtutor и нашла раздел про Visual mode.</a:t>
            </a:r>
          </a:p>
        </p:txBody>
      </p:sp>
      <p:pic>
        <p:nvPicPr>
          <p:cNvPr descr="image/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95300"/>
            <a:ext cx="510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5: Вопрос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6. Запуск оболочки из оболочки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Только из набора C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История команд принадлежит текущей оболочке. Новая оболочка получает новую пустую историю.</a:t>
            </a:r>
          </a:p>
        </p:txBody>
      </p:sp>
      <p:pic>
        <p:nvPicPr>
          <p:cNvPr descr="image/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89000"/>
            <a:ext cx="51054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6: Вопрос 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7. Работа cd и touch в скрипте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/home/bi/file1.txt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cd меняет директорию внутри скрипта. touch создаёт файл там, где ты находишься.</a:t>
            </a:r>
          </a:p>
        </p:txBody>
      </p:sp>
      <p:pic>
        <p:nvPicPr>
          <p:cNvPr descr="image/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96900"/>
            <a:ext cx="51054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7: Вопрос 7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8. Имена переменных в bash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_variable - VARIable - variable_123 - variable123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Имя переменной может содержать буквы, цифры и _, но не может начинаться с цифры и не может содержать спецсимволы.</a:t>
            </a:r>
          </a:p>
        </p:txBody>
      </p:sp>
      <p:pic>
        <p:nvPicPr>
          <p:cNvPr descr="image/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22300"/>
            <a:ext cx="51054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8: Вопрос 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9. Скрипт с двумя аргументами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#!/bin/bash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echo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"Arguments are: </a:t>
            </a:r>
            <a:r>
              <a:rPr>
                <a:solidFill>
                  <a:srgbClr val="902000"/>
                </a:solidFill>
                <a:latin typeface="Courier"/>
              </a:rPr>
              <a:t>\$</a:t>
            </a:r>
            <a:r>
              <a:rPr>
                <a:solidFill>
                  <a:srgbClr val="4070A0"/>
                </a:solidFill>
                <a:latin typeface="Courier"/>
              </a:rPr>
              <a:t>1=</a:t>
            </a:r>
            <a:r>
              <a:rPr>
                <a:solidFill>
                  <a:srgbClr val="19177C"/>
                </a:solidFill>
                <a:latin typeface="Courier"/>
              </a:rPr>
              <a:t>$1</a:t>
            </a:r>
            <a:r>
              <a:rPr>
                <a:solidFill>
                  <a:srgbClr val="4070A0"/>
                </a:solidFill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\$</a:t>
            </a:r>
            <a:r>
              <a:rPr>
                <a:solidFill>
                  <a:srgbClr val="4070A0"/>
                </a:solidFill>
                <a:latin typeface="Courier"/>
              </a:rPr>
              <a:t>2=</a:t>
            </a:r>
            <a:r>
              <a:rPr>
                <a:solidFill>
                  <a:srgbClr val="19177C"/>
                </a:solidFill>
                <a:latin typeface="Courier"/>
              </a:rPr>
              <a:t>$2</a:t>
            </a:r>
            <a:r>
              <a:rPr>
                <a:solidFill>
                  <a:srgbClr val="4070A0"/>
                </a:solidFill>
                <a:latin typeface="Courier"/>
              </a:rPr>
              <a:t>"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$1 и $2 — аргументы скрипта. Обратный слеш нужен, чтобы вывести именно “$1”, а не значение.</a:t>
            </a:r>
          </a:p>
        </p:txBody>
      </p:sp>
      <p:pic>
        <p:nvPicPr>
          <p:cNvPr descr="image/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03200"/>
            <a:ext cx="51054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9: Вопрос 9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9. Скрипт с двумя аргументами</a:t>
            </a:r>
          </a:p>
        </p:txBody>
      </p:sp>
      <p:pic>
        <p:nvPicPr>
          <p:cNvPr descr="image/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" y="1193800"/>
            <a:ext cx="8051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10: Вопрос 9 продолжение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10. Условия, которые всегда истинны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-z “” - $# -ge 0 - -e $0 - -s $0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-z “” — пустая строка, всегда истина. $# -ge 0 — всегда. -e $0 и -s $0 — сам скрипт существует и не пустой.</a:t>
            </a:r>
          </a:p>
        </p:txBody>
      </p:sp>
      <p:pic>
        <p:nvPicPr>
          <p:cNvPr descr="image/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89400" y="203200"/>
            <a:ext cx="40767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11: Вопрос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10. Условия, которые всегда истинны</a:t>
            </a:r>
          </a:p>
        </p:txBody>
      </p:sp>
      <p:pic>
        <p:nvPicPr>
          <p:cNvPr descr="image/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79700" y="1193800"/>
            <a:ext cx="378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12: Вопрос 10 продолжение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11. Скрипт для определения возрастной группы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Решение в скриншоте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Бесконечный цикл while, read запрашивает имя и возраст, проверки через if и elif.</a:t>
            </a:r>
          </a:p>
        </p:txBody>
      </p:sp>
      <p:pic>
        <p:nvPicPr>
          <p:cNvPr descr="image/1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97300" y="203200"/>
            <a:ext cx="46482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13: Вопрос 11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11. Скрипт для определения возрастной группы</a:t>
            </a:r>
          </a:p>
        </p:txBody>
      </p:sp>
      <p:pic>
        <p:nvPicPr>
          <p:cNvPr descr="image/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19400" y="1193800"/>
            <a:ext cx="3505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14: Вопрос 11 продолжение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12. Инструкции, увеличивающие a на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Ответ:</a:t>
                </a:r>
                <a:r>
                  <a:rPr/>
                  <a:t> - let a=a+b - let “a+=b”</a:t>
                </a:r>
              </a:p>
              <a:p>
                <a:pPr lvl="0" indent="0" marL="0">
                  <a:buNone/>
                </a:pPr>
                <a:r>
                  <a:rPr b="1"/>
                  <a:t>Почему так:</a:t>
                </a:r>
                <a:r>
                  <a:rPr/>
                  <a:t> a=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  <a:r>
                  <a:rPr/>
                  <a:t>b — просто строка. a+=$b — не работает. let “a+=b” — правильно.</a:t>
                </a:r>
              </a:p>
            </p:txBody>
          </p:sp>
        </mc:Choice>
      </mc:AlternateContent>
      <p:pic>
        <p:nvPicPr>
          <p:cNvPr descr="image/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66700"/>
            <a:ext cx="5105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15: Вопрос 12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13. Что выведет echo “</a:t>
            </a:r>
            <a:r>
              <a:rPr>
                <a:latin typeface="Courier"/>
              </a:rPr>
              <a:t>pwd</a:t>
            </a:r>
            <a:r>
              <a:rPr/>
              <a:t>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/home/bi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Обратные кавычки выполняют pwd. cd уже сменил директорию на /home/bi/.</a:t>
            </a:r>
          </a:p>
        </p:txBody>
      </p:sp>
      <p:pic>
        <p:nvPicPr>
          <p:cNvPr descr="image/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82600"/>
            <a:ext cx="5105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16: Вопрос 13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13. Что выведет echo “</a:t>
            </a:r>
            <a:r>
              <a:rPr>
                <a:latin typeface="Courier"/>
              </a:rPr>
              <a:t>pwd</a:t>
            </a:r>
            <a:r>
              <a:rPr/>
              <a:t>”</a:t>
            </a:r>
          </a:p>
        </p:txBody>
      </p:sp>
      <p:pic>
        <p:nvPicPr>
          <p:cNvPr descr="image/2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32100" y="1193800"/>
            <a:ext cx="3479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17: Вопрос 13 продолжение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14. Как проверить код возврата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Сначала запустить program, затем if [[ $? -eq 0 ]]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$? хранит код возврата последней выполненной команды.</a:t>
            </a:r>
          </a:p>
        </p:txBody>
      </p:sp>
      <p:pic>
        <p:nvPicPr>
          <p:cNvPr descr="image/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95300"/>
            <a:ext cx="51054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18: Вопрос 14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15. Глобальные и локальные переменные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counters are 55 and 110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c1 — сумма чисел от 1 до 10 = 55. c2 — сумма удвоенных чисел = 2*55 = 110.</a:t>
            </a:r>
          </a:p>
        </p:txBody>
      </p:sp>
      <p:pic>
        <p:nvPicPr>
          <p:cNvPr descr="image/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203200"/>
            <a:ext cx="50800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19: Вопрос 15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16. Нахождение НОД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Решение в скриншоте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Функция gcd вызывает сама себя. При M != N из большего вычитаем меньшее. При пустом вводе — “bye”.</a:t>
            </a:r>
          </a:p>
        </p:txBody>
      </p:sp>
      <p:pic>
        <p:nvPicPr>
          <p:cNvPr descr="image/2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33800" y="203200"/>
            <a:ext cx="47752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20: Вопрос 16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16. Нахождение НОД</a:t>
            </a:r>
          </a:p>
        </p:txBody>
      </p:sp>
      <p:pic>
        <p:nvPicPr>
          <p:cNvPr descr="image/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193800"/>
            <a:ext cx="283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21: Вопрос 16 продолжение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17. Калькулятор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Решение в скриншоте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Бесконечный цикл, case обрабатывает операции, “exit” выводит “bye” и выходит, иначе “error”.</a:t>
            </a:r>
          </a:p>
        </p:txBody>
      </p:sp>
      <p:pic>
        <p:nvPicPr>
          <p:cNvPr descr="image/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22: Вопрос 17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17. Калькулятор</a:t>
            </a:r>
          </a:p>
        </p:txBody>
      </p:sp>
      <p:pic>
        <p:nvPicPr>
          <p:cNvPr descr="image/2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86100" y="1193800"/>
            <a:ext cx="295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23: Вопрос 17 продолжение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18. Поиск с -iname и -name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Star_Wars.avi - STARS.txt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-iname не чувствительна к регистру, -name чувствительна.</a:t>
            </a:r>
          </a:p>
        </p:txBody>
      </p:sp>
      <p:pic>
        <p:nvPicPr>
          <p:cNvPr descr="image/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50900"/>
            <a:ext cx="51054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24: Вопрос 18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19. Сравнение -name и -path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В некоторых случаях find с -name найдёт больше файлов, чем с -path - Если заменить -name на -path, результат иногда может остаться таким же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-path ищет по всему пути, -name — только по имени файла.</a:t>
            </a:r>
          </a:p>
        </p:txBody>
      </p:sp>
      <p:pic>
        <p:nvPicPr>
          <p:cNvPr descr="image/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90600"/>
            <a:ext cx="51054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25: Вопрос 19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20. Поиск с -mindepth и -maxdepth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Ни один файл найден не будет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file1, file2, file3 лежат на глубине 1, а диапазон 2-3.</a:t>
            </a:r>
          </a:p>
        </p:txBody>
      </p:sp>
      <p:pic>
        <p:nvPicPr>
          <p:cNvPr descr="image/2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26: Вопрос 20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21. Опции grep -A, -B, -C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grep -C 1 “word” file.txt &gt; results.txt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-C 1 выводит строку + строку до и после. Это больше, чем -A 1 или -B 1.</a:t>
            </a:r>
          </a:p>
        </p:txBody>
      </p:sp>
      <p:pic>
        <p:nvPicPr>
          <p:cNvPr descr="image/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27: Вопрос 21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22. Регулярное выражение в grep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I prefer Kubuntu - Hmm, XKLubuntu - The best OS is Xubuntu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Шаблон ищет строки, заканчивающиеся на “buntu”, перед которым может быть u или символ из [xKXKL].</a:t>
            </a:r>
          </a:p>
        </p:txBody>
      </p:sp>
      <p:pic>
        <p:nvPicPr>
          <p:cNvPr descr="image/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73100"/>
            <a:ext cx="51054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28: Вопрос 22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23. Замена “аббревиатур” в sed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sed -E ‘s/([A-Z]{2,})/abbreviation/g’ input.txt &gt; edited.txt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[A-Z]{2,} — две или больше заглавные буквы.</a:t>
            </a:r>
          </a:p>
        </p:txBody>
      </p:sp>
      <p:pic>
        <p:nvPicPr>
          <p:cNvPr descr="image/3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48100" y="203200"/>
            <a:ext cx="4559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29: Вопрос 23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24. Опция -p в gnuplot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-p –persist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Без -p графики закрываются вместе с gnuplot. С -p остаются открытыми.</a:t>
            </a:r>
          </a:p>
        </p:txBody>
      </p:sp>
      <p:pic>
        <p:nvPicPr>
          <p:cNvPr descr="image/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54100"/>
            <a:ext cx="5105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30: Вопрос 24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25. Название ряда в gnuplot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Название — первое значение из второго столбца, нарисовано 9 точек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autotitle columnhead берёт заголовок из первой строки. Первая строка не рисуется, остаётся 9 точек.</a:t>
            </a:r>
          </a:p>
        </p:txBody>
      </p:sp>
      <p:pic>
        <p:nvPicPr>
          <p:cNvPr descr="image/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06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31: Вопрос 25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26. Установка меток на оси в gnuplot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set xtics (“point 1, value”.x1, “point 2, value”.x2, “point 3, value”.x3)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Конкатенация строк через “. Без кавычек gnuplot подставит значения переменных.</a:t>
            </a:r>
          </a:p>
        </p:txBody>
      </p:sp>
      <p:pic>
        <p:nvPicPr>
          <p:cNvPr descr="image/3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66700"/>
            <a:ext cx="510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32: Вопрос 26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27. Изменение анимации в gnuplot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</a:p>
          <a:p>
            <a:pPr lvl="0" indent="0">
              <a:buNone/>
            </a:pPr>
            <a:r>
              <a:rPr>
                <a:latin typeface="Courier"/>
              </a:rPr>
              <a:t>a=a+1
zrot=(zrot+350)%360
set view xrot,zrot
splot -x**2-y**2
pause 0.1
if (a&lt;50) reread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zrot=(zrot+350)%360 — вращение в другую сторону. pause 0.1 вместо 0.2 — скорость увеличилась.</a:t>
            </a:r>
          </a:p>
        </p:txBody>
      </p:sp>
      <p:pic>
        <p:nvPicPr>
          <p:cNvPr descr="image/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33: Вопрос 27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28. Права доступа rwxrw-r–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chmod u+wx file.txt; chmod g+w file.txt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u+wx — добавляет владельцу w и x. g+w — добавляет группе w.</a:t>
            </a:r>
          </a:p>
        </p:txBody>
      </p:sp>
      <p:pic>
        <p:nvPicPr>
          <p:cNvPr descr="image/3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73100"/>
            <a:ext cx="51054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34: Вопрос 28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29. Создание файла в директории root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sudo chown user dir - sudo chown :group dir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Если директория принадлежит root, а группа правильная, то пользователь получит права группы и сможет писать.</a:t>
            </a:r>
          </a:p>
        </p:txBody>
      </p:sp>
      <p:pic>
        <p:nvPicPr>
          <p:cNvPr descr="image/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279900" y="203200"/>
            <a:ext cx="36830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35: Вопрос 29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30. Команда du для размера текущей директории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du -hs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du -h — человеко-читаемый формат. du -s — суммарный размер.</a:t>
            </a:r>
          </a:p>
        </p:txBody>
      </p:sp>
      <p:pic>
        <p:nvPicPr>
          <p:cNvPr descr="image/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36: Вопрос 30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31. Создание трёх поддиректорий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mkdir dir{1..3}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{1..3} разворачивается в 1 2 3. Получается mkdir dir1 dir2 dir3.</a:t>
            </a:r>
          </a:p>
        </p:txBody>
      </p:sp>
      <p:pic>
        <p:nvPicPr>
          <p:cNvPr descr="image/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37: Вопрос 31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32. Опция -n в sed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На экран будет выведено всё содержимое файла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Без -n sed печатает все строки по умолчанию. Команда p не меняет этого.</a:t>
            </a:r>
          </a:p>
        </p:txBody>
      </p:sp>
      <p:pic>
        <p:nvPicPr>
          <p:cNvPr descr="image/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38: Вопрос 32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Выводы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Что я научилась делать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Работать в vim (перемещение, замена, режимы)</a:t>
            </a:r>
          </a:p>
          <a:p>
            <a:pPr lvl="0"/>
            <a:r>
              <a:rPr/>
              <a:t>Писать bash-скрипты (переменные, условия, циклы, функции, арифметика)</a:t>
            </a:r>
          </a:p>
          <a:p>
            <a:pPr lvl="0"/>
            <a:r>
              <a:rPr/>
              <a:t>Обрабатывать текст с помощью sed</a:t>
            </a:r>
          </a:p>
          <a:p>
            <a:pPr lvl="0"/>
            <a:r>
              <a:rPr/>
              <a:t>Строить графики в gnuplot</a:t>
            </a:r>
          </a:p>
          <a:p>
            <a:pPr lvl="0" indent="0" marL="0">
              <a:buNone/>
            </a:pPr>
            <a:r>
              <a:rPr/>
              <a:t>Все задания третьего раздела выполнены.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 «Введение в Linux»</dc:title>
  <dc:creator>Иванова Анастасия Сергеевна</dc:creator>
  <cp:keywords/>
  <dcterms:created xsi:type="dcterms:W3CDTF">2026-05-16T18:26:53Z</dcterms:created>
  <dcterms:modified xsi:type="dcterms:W3CDTF">2026-05-16T18:26:53Z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2026-05-16</vt:lpwstr>
  </property>
  <property fmtid="{D5CDD505-2E9C-101B-9397-08002B2CF9AE}" pid="9" name="date-format">
    <vt:lpwstr>YYYY-MM-DD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Раздел 3 — vim, bash-скрипты, sed, gnuplot</vt:lpwstr>
  </property>
  <property fmtid="{D5CDD505-2E9C-101B-9397-08002B2CF9AE}" pid="16" name="toc-title">
    <vt:lpwstr>Содержание</vt:lpwstr>
  </property>
</Properties>
</file>