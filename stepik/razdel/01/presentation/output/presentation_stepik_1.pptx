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1132250427@rudn.ru" TargetMode="Externa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4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6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7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9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0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1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2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Курс «Введение в Linux»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Раздел 1 — основные команды и работа с системой</a:t>
            </a:r>
            <a:br/>
            <a:br/>
            <a:r>
              <a:rPr/>
              <a:t>Иванова Анастасия Сергеевна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2026-05-16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Докладчик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Иванова Анастасия Сергеевна</a:t>
            </a:r>
          </a:p>
          <a:p>
            <a:pPr lvl="0"/>
            <a:r>
              <a:rPr/>
              <a:t>1 курс группа НКАбд-07-25</a:t>
            </a:r>
          </a:p>
          <a:p>
            <a:pPr lvl="0"/>
            <a:r>
              <a:rPr/>
              <a:t>Российский университет дружбы народов</a:t>
            </a:r>
          </a:p>
          <a:p>
            <a:pPr lvl="0"/>
            <a:r>
              <a:rPr>
                <a:hlinkClick r:id="rId2"/>
              </a:rPr>
              <a:t>1132250427@rudn.ru</a:t>
            </a:r>
          </a:p>
        </p:txBody>
      </p:sp>
      <p:pic>
        <p:nvPicPr>
          <p:cNvPr descr="./image/m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Введение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Цель работы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Изучить основные понятия Linux: - установка программ - работа с командной строкой - управление процессами - архивация - поиск файлов и фильтрация текста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Вопросы 1-5. Начало работы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1. Название курса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Введение в Linux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Курс посвящён основам работы в операционной системе Linux, что соответствует его названию. Остальные варианты (Python, молекулярная биология, KDE, Windows) не имеют отношения к содержанию.</a:t>
            </a:r>
          </a:p>
        </p:txBody>
      </p:sp>
      <p:pic>
        <p:nvPicPr>
          <p:cNvPr descr="image/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63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1: Вопрос 1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2. Правила курса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Не выкладывать решения - Дедлайнов нет - Решать самостоятельно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В курсе действительно нет дедлайнов, баллы за неверные попытки не снимаются, а публикация решений запрещена — это написано в правилах.</a:t>
            </a:r>
          </a:p>
        </p:txBody>
      </p:sp>
      <p:pic>
        <p:nvPicPr>
          <p:cNvPr descr="image/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160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2: Вопрос 2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3. Какая ОС у меня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Windows / Linux (какая есть)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Я выбрала ту операционную систему, которая у меня установлена на основном компьютере.</a:t>
            </a:r>
          </a:p>
        </p:txBody>
      </p:sp>
      <p:pic>
        <p:nvPicPr>
          <p:cNvPr descr="image/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49300"/>
            <a:ext cx="51054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3: Вопрос 3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4. Что такое виртуальная машина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Программа для запуска одной ОС внутри другой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Виртуальная машина эмулирует аппаратное обеспечение и позволяет запускать гостевую операционную систему внутри хостовой.</a:t>
            </a:r>
          </a:p>
        </p:txBody>
      </p:sp>
      <p:pic>
        <p:nvPicPr>
          <p:cNvPr descr="image/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52500"/>
            <a:ext cx="51054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4: Вопрос 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5. Запустился ли Linux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Да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Linux был успешно установлен и запущен на виртуальной машине.</a:t>
            </a:r>
          </a:p>
        </p:txBody>
      </p:sp>
      <p:pic>
        <p:nvPicPr>
          <p:cNvPr descr="image/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33400"/>
            <a:ext cx="5105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5: Вопрос 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Вопросы 6-10. Программы и установка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6. Документ в LibreOffice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Файл 1.fodt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Документ создан в LibreOffice Writer, использован шрифт FreeMono, сохранён в формате Flat XML (FODT), как требует задание.</a:t>
            </a:r>
          </a:p>
        </p:txBody>
      </p:sp>
      <p:pic>
        <p:nvPicPr>
          <p:cNvPr descr="image/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31900"/>
            <a:ext cx="5105400" cy="182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6: Вопрос 6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7. Расширение пакетов в Ubuntu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deb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В Ubuntu и других Debian-подобных системах установочные пакеты имеют расширение .deb. В Fedora (которую я ставила) — .rpm, но вопрос про Ubuntu.</a:t>
            </a:r>
          </a:p>
        </p:txBody>
      </p:sp>
      <p:pic>
        <p:nvPicPr>
          <p:cNvPr descr="image/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30200"/>
            <a:ext cx="51054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7: Вопрос 7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8. VLC — фамилия автора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Denis-Courmont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Я установила VLC, зашла в справку, открыла вкладку с авторами — первая фамилия оказалась Denis-Courmont.</a:t>
            </a:r>
          </a:p>
        </p:txBody>
      </p:sp>
      <p:pic>
        <p:nvPicPr>
          <p:cNvPr descr="image/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04900"/>
            <a:ext cx="51054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8: Вопрос 8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/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16100" y="1193800"/>
            <a:ext cx="549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9: Вопрос 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9. Update Manager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Обновление всей системы - Обновление программ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Update Manager отвечает за обновление системы и установленных приложений, но не за установку/удаление программ.</a:t>
            </a:r>
          </a:p>
        </p:txBody>
      </p:sp>
      <p:pic>
        <p:nvPicPr>
          <p:cNvPr descr="image/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44500"/>
            <a:ext cx="5105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10: Вопрос 9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Вопрос 10. Синонимы командной строки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Терминал, Консоль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«Терминал» и «консоль» — это программные эмуляторы командной строки, они обозначают одно и то же.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Вопросы 11-13. Навигация и 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11. Команда для текущего каталога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pwd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pwd (print working directory) выводит полный путь к текущему каталогу. Другие варианты не работают.</a:t>
            </a:r>
          </a:p>
        </p:txBody>
      </p:sp>
      <p:pic>
        <p:nvPicPr>
          <p:cNvPr descr="image/1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44500"/>
            <a:ext cx="5105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11: Вопрос 11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12. Эквивалентные команды 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ls -lAh /some/directory - ls –human-readable -A -l /some/directory - ls –almost-all –human-readable -l /some/directory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У всех этих команд одни и те же опции: -A (почти всё, кроме . и ..), -l (подробно), -h (размеры в удобном виде). Порядок опций не важен.</a:t>
            </a:r>
          </a:p>
        </p:txBody>
      </p:sp>
      <p:pic>
        <p:nvPicPr>
          <p:cNvPr descr="image/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68300"/>
            <a:ext cx="5105400" cy="354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12: Вопрос 12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13. Показать Downloads из Documents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ls /home/bi/Downloads - ls ~/Downloads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Тильда (~) заменяет путь к домашней папке. Оба варианта ведут в одно место.</a:t>
            </a:r>
          </a:p>
        </p:txBody>
      </p:sp>
      <p:pic>
        <p:nvPicPr>
          <p:cNvPr descr="image/1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41300"/>
            <a:ext cx="5105400" cy="381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13: Вопрос 13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Вопросы 14-18. Процессы и управление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14. Удаление директорий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rm -r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Опция -r (recursive) позволяет удалять каталоги вместе со всем содержимым. Без неё rm удаляет только файлы.</a:t>
            </a:r>
          </a:p>
        </p:txBody>
      </p:sp>
      <p:pic>
        <p:nvPicPr>
          <p:cNvPr descr="image/1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98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14: Вопрос 14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15. Firefox и exit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Терминал закроется, Firefox останется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Firefox был запущен из терминала, но не завершился при вводе exit. Завершился только терминал, а браузер продолжает работать.</a:t>
            </a:r>
          </a:p>
        </p:txBody>
      </p:sp>
      <p:pic>
        <p:nvPicPr>
          <p:cNvPr descr="image/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54100"/>
            <a:ext cx="5105400" cy="217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15: Вопрос 15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16. Что делает &amp;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Запуск, Ctrl+Z, bg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&amp; сразу запускает программу в фоновом режиме. Вручную это делается так: запуск, затем приостановка (Ctrl+Z) и перевод в фон (bg).</a:t>
            </a:r>
          </a:p>
        </p:txBody>
      </p:sp>
      <p:pic>
        <p:nvPicPr>
          <p:cNvPr descr="image/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444500"/>
            <a:ext cx="5105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16: Вопрос 16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17. Запуск программы из файла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2026-05-15 21:38:39 Control sum: 957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Файл скачан, сделан исполняемым (chmod +x), запущен. Программа выдала текущую дату и контрольную сумму.</a:t>
            </a:r>
          </a:p>
        </p:txBody>
      </p:sp>
      <p:pic>
        <p:nvPicPr>
          <p:cNvPr descr="image/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17: Вопрос 17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18. Куда выводится stderr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На экран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По умолчанию стандартный поток ошибок (stderr) выводится на экран, как и стандартный вывод (stdout).</a:t>
            </a:r>
          </a:p>
        </p:txBody>
      </p:sp>
      <p:pic>
        <p:nvPicPr>
          <p:cNvPr descr="image/2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03200"/>
            <a:ext cx="4876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18: Вопрос 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/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19: Вопрос 18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Вопросы 19-21. Перенаправление и wget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19. Записать ошибки в файл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program 2&gt; file.txt - program 2&gt;&gt; file.txt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2&gt; перенаправляет поток ошибок в файл (перезапись), 2&gt;&gt; — добавление в конец. Другие варианты либо неверны, либо перенаправляют stdout.</a:t>
            </a:r>
          </a:p>
        </p:txBody>
      </p:sp>
      <p:pic>
        <p:nvPicPr>
          <p:cNvPr descr="image/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25500"/>
            <a:ext cx="5105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20: Вопрос 19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20. Ошибки в конвейере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Выводятся на экран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По конвейеру (pipe) передаётся только stdout, а stderr по умолчанию идёт на экран.</a:t>
            </a:r>
          </a:p>
        </p:txBody>
      </p:sp>
      <p:pic>
        <p:nvPicPr>
          <p:cNvPr descr="image/2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400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21: Вопрос 20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21. Путь к скачанной картинке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/home/alex/Pictures/1.jpg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-P задаёт директорию для сохранения, -O задаёт имя файла. Картинка сохранится как /home/alex/1.jpg.</a:t>
            </a:r>
          </a:p>
        </p:txBody>
      </p:sp>
      <p:pic>
        <p:nvPicPr>
          <p:cNvPr descr="image/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22: Вопрос 21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Вопросы 22-24. wget и архивация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22. Тихий wget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-q или –quiet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Опция -q (quiet) подавляет все сообщения wget, включая прогресс и подключения.</a:t>
            </a:r>
          </a:p>
        </p:txBody>
      </p:sp>
      <p:pic>
        <p:nvPicPr>
          <p:cNvPr descr="image/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03300"/>
            <a:ext cx="51054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23: Вопрос 22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23. wget -r -l 1 -A jpg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Будут скачаны только jpg файлы (html файлы скачаются, но потом удалятся)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Опция </a:t>
            </a:r>
            <a:r>
              <a:rPr>
                <a:latin typeface="Courier"/>
              </a:rPr>
              <a:t>-A jpg</a:t>
            </a:r>
            <a:r>
              <a:rPr/>
              <a:t> ограничивает загрузку файлами с расширением jpg. HTML-файлы сначала скачиваются (так как </a:t>
            </a:r>
            <a:r>
              <a:rPr>
                <a:latin typeface="Courier"/>
              </a:rPr>
              <a:t>wget</a:t>
            </a:r>
            <a:r>
              <a:rPr/>
              <a:t> рекурсивно обходит страницы), но затем удаляются, потому что их расширение не соответствует </a:t>
            </a:r>
            <a:r>
              <a:rPr>
                <a:latin typeface="Courier"/>
              </a:rPr>
              <a:t>-A jpg</a:t>
            </a:r>
            <a:r>
              <a:rPr/>
              <a:t>. В результате остаются только jpg.</a:t>
            </a:r>
          </a:p>
        </p:txBody>
      </p:sp>
      <p:pic>
        <p:nvPicPr>
          <p:cNvPr descr="image/2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24: Вопрос 23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24. Отличие gzip от zip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gzip удаляет архив после распаковки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При распаковке gzip удаляет .gz-файл, оставляя только распакованный файл. zip этого не делает.</a:t>
            </a:r>
          </a:p>
        </p:txBody>
      </p:sp>
      <p:pic>
        <p:nvPicPr>
          <p:cNvPr descr="image/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66800"/>
            <a:ext cx="5105400" cy="215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25: Вопрос 24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25. Архиваторы для папок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zip, tar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gzip сжимает только один файл. Для архивации директорий используют tar (который сначала объединяет файлы в один) или zip.</a:t>
            </a:r>
          </a:p>
        </p:txBody>
      </p:sp>
      <p:pic>
        <p:nvPicPr>
          <p:cNvPr descr="image/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01700"/>
            <a:ext cx="5105400" cy="2476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26: Вопрос 25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26. Опции tar для bz2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-cjf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-c — создание архива, -j — сжатие bzip2, -f — файл. -x распаковывает, -z для gzip, -t для просмотра.</a:t>
            </a:r>
          </a:p>
        </p:txBody>
      </p:sp>
      <p:pic>
        <p:nvPicPr>
          <p:cNvPr descr="image/2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63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27: Вопрос 26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Вопросы 27-29. Поиск и grep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27. Маски find НЕ найдут Alexey.jpeg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</a:t>
            </a:r>
            <a:r>
              <a:rPr i="1"/>
              <a:t>..? - </a:t>
            </a:r>
            <a:r>
              <a:rPr/>
              <a:t>jpg - alexey.*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</a:t>
            </a:r>
            <a:r>
              <a:rPr i="1"/>
              <a:t>..? — ищет файлы, где перед последним символом две точки. </a:t>
            </a:r>
            <a:r>
              <a:rPr/>
              <a:t>jpg — ищет .jpg, а нужно .jpeg. alexey.* — имя с маленькой буквы, а в файле с большой.</a:t>
            </a:r>
          </a:p>
        </p:txBody>
      </p:sp>
      <p:pic>
        <p:nvPicPr>
          <p:cNvPr descr="image/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46100"/>
            <a:ext cx="5105400" cy="318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28: Вопрос 27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28. grep “world”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- world - The beautiful-world is not enough - The world is not enough - The world is not “enough” - The beautifulworld is not enough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grep ищет точное вхождение “world”. Регистр важен, поэтому World с большой буквы не подходит. Слова с дефисом подходят, если внутри есть “world”.</a:t>
            </a:r>
          </a:p>
        </p:txBody>
      </p:sp>
      <p:pic>
        <p:nvPicPr>
          <p:cNvPr descr="image/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87400"/>
            <a:ext cx="5105400" cy="270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29: Вопрос 28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Вопрос 29. Поиск “love” у Шекспира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Ответ:</a:t>
            </a:r>
            <a:r>
              <a:rPr/>
              <a:t> Файл love_lines.txt</a:t>
            </a:r>
          </a:p>
          <a:p>
            <a:pPr lvl="0" indent="0" marL="0">
              <a:buNone/>
            </a:pPr>
            <a:r>
              <a:rPr b="1"/>
              <a:t>Пояснение:</a:t>
            </a:r>
            <a:r>
              <a:rPr/>
              <a:t> Архив скачан, распакован, зашла в папку и выполнила grep -h “love” *.txt &gt; love_lines.txt. Получился файл со всеми строчками, где есть love.</a:t>
            </a:r>
          </a:p>
        </p:txBody>
      </p:sp>
      <p:pic>
        <p:nvPicPr>
          <p:cNvPr descr="image/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30: Вопрос 29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/3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97200" y="1193800"/>
            <a:ext cx="3149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Рисунок 31: Вопрос 29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Выводы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Что я научилась делать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Работать в командной строке</a:t>
            </a:r>
          </a:p>
          <a:p>
            <a:pPr lvl="0"/>
            <a:r>
              <a:rPr/>
              <a:t>Управлять процессами (фон, передний план, kill)</a:t>
            </a:r>
          </a:p>
          <a:p>
            <a:pPr lvl="0"/>
            <a:r>
              <a:rPr/>
              <a:t>Перенаправлять вывод и ошибки</a:t>
            </a:r>
          </a:p>
          <a:p>
            <a:pPr lvl="0"/>
            <a:r>
              <a:rPr/>
              <a:t>Архивировать файлы (tar, gzip, zip)</a:t>
            </a:r>
          </a:p>
          <a:p>
            <a:pPr lvl="0"/>
            <a:r>
              <a:rPr/>
              <a:t>Скачивать через wget</a:t>
            </a:r>
          </a:p>
          <a:p>
            <a:pPr lvl="0"/>
            <a:r>
              <a:rPr/>
              <a:t>Искать файлы и текст (find, grep)</a:t>
            </a:r>
          </a:p>
          <a:p>
            <a:pPr lvl="0" indent="0" marL="0">
              <a:buNone/>
            </a:pPr>
            <a:r>
              <a:rPr/>
              <a:t>Все задания первого раздела выполнены.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 «Введение в Linux»</dc:title>
  <dc:creator>Иванова Анастасия Сергеевна</dc:creator>
  <cp:keywords/>
  <dcterms:created xsi:type="dcterms:W3CDTF">2026-05-16T19:05:15Z</dcterms:created>
  <dcterms:modified xsi:type="dcterms:W3CDTF">2026-05-16T19:05:15Z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crossref">
    <vt:lpwstr/>
  </property>
  <property fmtid="{D5CDD505-2E9C-101B-9397-08002B2CF9AE}" pid="8" name="date">
    <vt:lpwstr>2026-05-16</vt:lpwstr>
  </property>
  <property fmtid="{D5CDD505-2E9C-101B-9397-08002B2CF9AE}" pid="9" name="date-format">
    <vt:lpwstr>YYYY-MM-DD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icense">
    <vt:lpwstr/>
  </property>
  <property fmtid="{D5CDD505-2E9C-101B-9397-08002B2CF9AE}" pid="15" name="subtitle">
    <vt:lpwstr>Раздел 1 — основные команды и работа с системой</vt:lpwstr>
  </property>
  <property fmtid="{D5CDD505-2E9C-101B-9397-08002B2CF9AE}" pid="16" name="toc-title">
    <vt:lpwstr>Содержание</vt:lpwstr>
  </property>
</Properties>
</file>